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e167f398f9b4d83" /><Relationship Type="http://schemas.openxmlformats.org/officeDocument/2006/relationships/extended-properties" Target="/docProps/app.xml" Id="R65104843961c45c0" /><Relationship Type="http://schemas.openxmlformats.org/officeDocument/2006/relationships/officeDocument" Target="/ppt/presentation.xml" Id="R95ae1e8465be4507"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c79fa2e27bd4f33"/>
  </p:sldMasterIdLst>
  <p:notesMasterIdLst>
    <p:notesMasterId xmlns:r="http://schemas.openxmlformats.org/officeDocument/2006/relationships" r:id="Raa322985c6f14b9e"/>
  </p:notesMasterIdLst>
  <p:sldIdLst>
    <p:sldId xmlns:r="http://schemas.openxmlformats.org/officeDocument/2006/relationships" id="256" r:id="Re61ffeb0bb5e43f2"/>
    <p:sldId xmlns:r="http://schemas.openxmlformats.org/officeDocument/2006/relationships" id="257" r:id="Rdef27ced91234307"/>
    <p:sldId xmlns:r="http://schemas.openxmlformats.org/officeDocument/2006/relationships" id="258" r:id="Rbb2a0cbc51a74dc8"/>
  </p:sldIdLst>
  <p:sldSz cx="12192000" cy="6858000"/>
  <p:notesSz cx="6858000" cy="9144000"/>
  <p:embeddedFontLst>
    <p:embeddedFont>
      <p:font typeface="OpenAI Sans"/>
      <p:regular xmlns:r="http://schemas.openxmlformats.org/officeDocument/2006/relationships" r:id="R013f2c488fbd4dac"/>
      <p:bold xmlns:r="http://schemas.openxmlformats.org/officeDocument/2006/relationships" r:id="R79906cbda06e4c65"/>
      <p:italic xmlns:r="http://schemas.openxmlformats.org/officeDocument/2006/relationships" r:id="R4203622d9ccc43c7"/>
      <p:boldItalic xmlns:r="http://schemas.openxmlformats.org/officeDocument/2006/relationships" r:id="Rba91c597a18b4040"/>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bf398f37e70472b" /><Relationship Type="http://schemas.openxmlformats.org/officeDocument/2006/relationships/slideMaster" Target="/ppt/slideMasters/slideMaster1.xml" Id="R5c79fa2e27bd4f33" /><Relationship Type="http://schemas.openxmlformats.org/officeDocument/2006/relationships/notesMaster" Target="/ppt/notesMasters/notesMaster1.xml" Id="Raa322985c6f14b9e" /><Relationship Type="http://schemas.openxmlformats.org/officeDocument/2006/relationships/presProps" Target="/ppt/presProps.xml" Id="Rc03cbac085634d44" /><Relationship Type="http://schemas.openxmlformats.org/officeDocument/2006/relationships/viewProps" Target="/ppt/viewProps.xml" Id="Rf4fdd1afb42c4dc3" /><Relationship Type="http://schemas.openxmlformats.org/officeDocument/2006/relationships/tableStyles" Target="/ppt/tableStyles.xml" Id="R38d695e9a1084ded" /><Relationship Type="http://schemas.openxmlformats.org/officeDocument/2006/relationships/font" Target="/ppt/fonts/font.dat" Id="R013f2c488fbd4dac" /><Relationship Type="http://schemas.openxmlformats.org/officeDocument/2006/relationships/font" Target="/ppt/fonts/font2.dat" Id="R79906cbda06e4c65" /><Relationship Type="http://schemas.openxmlformats.org/officeDocument/2006/relationships/font" Target="/ppt/fonts/font3.dat" Id="R4203622d9ccc43c7" /><Relationship Type="http://schemas.openxmlformats.org/officeDocument/2006/relationships/font" Target="/ppt/fonts/font4.dat" Id="Rba91c597a18b4040" /><Relationship Type="http://schemas.openxmlformats.org/officeDocument/2006/relationships/slide" Target="/ppt/slides/slide1.xml" Id="Re61ffeb0bb5e43f2" /><Relationship Type="http://schemas.openxmlformats.org/officeDocument/2006/relationships/slide" Target="/ppt/slides/slide2.xml" Id="Rdef27ced91234307" /><Relationship Type="http://schemas.openxmlformats.org/officeDocument/2006/relationships/slide" Target="/ppt/slides/slide3.xml" Id="Rbb2a0cbc51a74d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19f18e9de647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8d8cda7c7d4631" /><Relationship Type="http://schemas.openxmlformats.org/officeDocument/2006/relationships/notesMaster" Target="/ppt/notesMasters/notesMaster1.xml" Id="R84012ef094f241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49a092f1b04b5a" /><Relationship Type="http://schemas.openxmlformats.org/officeDocument/2006/relationships/notesMaster" Target="/ppt/notesMasters/notesMaster1.xml" Id="R43383b5eb97b4d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90161d3db44822" /><Relationship Type="http://schemas.openxmlformats.org/officeDocument/2006/relationships/notesMaster" Target="/ppt/notesMasters/notesMaster1.xml" Id="R1059616b7a6f4a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Our team decided to use a local LLM and focus on retrieval quality and conflict handling. We want the system to find the most relevant clauses, show supporting evidence, and highlight conflicting rules. When the evidence is unclear, it should ask for human review.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I tested two new documents: a derived governance dataset and a synthetic conflict dataset. I kept reference answers out of the search index. I improved query matching and hybrid scoring, and added checks for eligibility requirements, approval conditions, and policy exceptions. This experiment used local LSA and rule-based responses, not LLM-generated answers.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For paraphrased questions, the system found the expected evidence in 13 out of 15 cases, compared with 9 before. It reported the correct conflict pair in 16 out of 20 cases, compared with 14 before. All 75 regression tests passed. These are development results on synthetic data. Next, I will investigate the missed cases and test with unseen questions. Source: experiment_outputs/text_only_20260909/REPORT_KO.md and before/after benchmark JSON files.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bab8a6206504a3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73289045605469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7ee2f72a0ec4e4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2eb41512ae045f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31f4546fee1446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69379b540c8450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97f03c0f083486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b0bb444df2d4121"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bda33d0da9414b" /><Relationship Type="http://schemas.openxmlformats.org/officeDocument/2006/relationships/slideLayout" Target="/ppt/slideLayouts/slideLayout1.xml" Id="R9b3137decfc8433d" /><Relationship Type="http://schemas.openxmlformats.org/officeDocument/2006/relationships/slideLayout" Target="/ppt/slideLayouts/slideLayout2.xml" Id="Rb2187fd183ab47f2" /><Relationship Type="http://schemas.openxmlformats.org/officeDocument/2006/relationships/slideLayout" Target="/ppt/slideLayouts/slideLayout3.xml" Id="R4e02111698864867" /><Relationship Type="http://schemas.openxmlformats.org/officeDocument/2006/relationships/slideLayout" Target="/ppt/slideLayouts/slideLayout4.xml" Id="R04feea9f93684c75" /><Relationship Type="http://schemas.openxmlformats.org/officeDocument/2006/relationships/slideLayout" Target="/ppt/slideLayouts/slideLayout5.xml" Id="R36b58161968c45f0" /><Relationship Type="http://schemas.openxmlformats.org/officeDocument/2006/relationships/slideLayout" Target="/ppt/slideLayouts/slideLayout6.xml" Id="Raf61f40b4fc94d88" /><Relationship Type="http://schemas.openxmlformats.org/officeDocument/2006/relationships/slideLayout" Target="/ppt/slideLayouts/slideLayout7.xml" Id="Rf72da26206e24ad5" /><Relationship Type="http://schemas.openxmlformats.org/officeDocument/2006/relationships/slideLayout" Target="/ppt/slideLayouts/slideLayout8.xml" Id="R257b5ed9568841d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3137decfc8433d"/>
    <p:sldLayoutId xmlns:r="http://schemas.openxmlformats.org/officeDocument/2006/relationships" id="2147483650" r:id="Rb2187fd183ab47f2"/>
    <p:sldLayoutId xmlns:r="http://schemas.openxmlformats.org/officeDocument/2006/relationships" id="2147483651" r:id="R4e02111698864867"/>
    <p:sldLayoutId xmlns:r="http://schemas.openxmlformats.org/officeDocument/2006/relationships" id="2147483652" r:id="R04feea9f93684c75"/>
    <p:sldLayoutId xmlns:r="http://schemas.openxmlformats.org/officeDocument/2006/relationships" id="2147483653" r:id="R36b58161968c45f0"/>
    <p:sldLayoutId xmlns:r="http://schemas.openxmlformats.org/officeDocument/2006/relationships" id="2147483654" r:id="Raf61f40b4fc94d88"/>
    <p:sldLayoutId xmlns:r="http://schemas.openxmlformats.org/officeDocument/2006/relationships" id="2147483655" r:id="Rf72da26206e24ad5"/>
    <p:sldLayoutId xmlns:r="http://schemas.openxmlformats.org/officeDocument/2006/relationships" id="2147483656" r:id="R257b5ed9568841df"/>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c13021c66fb74577" /><Relationship Type="http://schemas.openxmlformats.org/officeDocument/2006/relationships/notesSlide" Target="/ppt/notesSlides/notesSlide1.xml" Id="R4cacf3178bc1475c"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3b9560dec0948a5" /><Relationship Type="http://schemas.openxmlformats.org/officeDocument/2006/relationships/notesSlide" Target="/ppt/notesSlides/notesSlide2.xml" Id="R731cb2d421ce4d28"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338c456213e44e6" /><Relationship Type="http://schemas.openxmlformats.org/officeDocument/2006/relationships/notesSlide" Target="/ppt/notesSlides/notesSlide3.xml" Id="R6235768a0a964df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C936F667-D10C-5292-AA3B-96BE2CAC84D9}"/>
              </a:ext>
            </a:extLst>
          </p:cNvPr>
          <p:cNvSpPr>
            <a:spLocks xmlns:a="http://schemas.openxmlformats.org/drawingml/2006/main" noGrp="1"/>
          </p:cNvSpPr>
          <p:nvPr>
            <p:ph idx="1"/>
          </p:nvPr>
        </p:nvSpPr>
        <p:spPr>
          <a:xfrm xmlns:a="http://schemas.openxmlformats.org/drawingml/2006/main">
            <a:off x="393700" y="1838848"/>
            <a:ext cx="5533190" cy="4155552"/>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Local LLM</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Focus on finding the most relevant evidence</a:t>
            </a:r>
          </a:p>
        </p:txBody>
      </p:sp>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AD75FED6-38D0-DE9C-92C0-6E7FA635581C}" type="slidenum">
              <a:t>1</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3450" b="1">
                <a:solidFill>
                  <a:srgbClr val="000000"/>
                </a:solidFill>
                <a:latin typeface="Helvetica Neue"/>
                <a:ea typeface="Helvetica Neue"/>
                <a:cs typeface="Helvetica Neue"/>
              </a:defRPr>
            </a:pPr>
            <a:r>
              <a:rPr sz="3450" b="1">
                <a:solidFill>
                  <a:srgbClr val="000000"/>
                </a:solidFill>
                <a:latin typeface="Helvetica Neue"/>
                <a:ea typeface="Helvetica Neue"/>
                <a:cs typeface="Helvetica Neue"/>
              </a:rPr>
              <a:t>Our team’s direction</a:t>
            </a:r>
          </a:p>
        </p:txBody>
      </p:sp>
      <p:sp>
        <p:nvSpPr>
          <p:cNvPr id="2" name="Google Shape;534;p58">
            <a:extLst xmlns:a="http://schemas.openxmlformats.org/drawingml/2006/main">
              <a:ext uri="{FF2B5EF4-FFF2-40B4-BE49-F238E27FC236}">
                <a16:creationId xmlns:a16="http://schemas.microsoft.com/office/drawing/2014/main" id="{A4A94F3C-B1B2-7289-7098-7C66C8A291D6}"/>
              </a:ext>
            </a:extLst>
          </p:cNvPr>
          <p:cNvSpPr>
            <a:spLocks xmlns:a="http://schemas.openxmlformats.org/drawingml/2006/main" noGrp="1"/>
          </p:cNvSpPr>
          <p:nvPr/>
        </p:nvSpPr>
        <p:spPr>
          <a:xfrm xmlns:a="http://schemas.openxmlformats.org/drawingml/2006/main">
            <a:off x="6265111" y="2192694"/>
            <a:ext cx="5537200" cy="3801706"/>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Conflict-aware RAG</a:t>
            </a: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Compare rules within and across documents</a:t>
            </a: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Show citations and request human review</a:t>
            </a:r>
          </a:p>
        </p:txBody>
      </p:sp>
    </p:spTree>
    <p:extLst>
      <p:ext uri="{BB962C8B-B14F-4D97-AF65-F5344CB8AC3E}">
        <p14:creationId xmlns:p14="http://schemas.microsoft.com/office/powerpoint/2010/main" val="54622172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C936F667-D10C-5292-AA3B-96BE2CAC84D9}"/>
              </a:ext>
            </a:extLst>
          </p:cNvPr>
          <p:cNvSpPr>
            <a:spLocks xmlns:a="http://schemas.openxmlformats.org/drawingml/2006/main" noGrp="1"/>
          </p:cNvSpPr>
          <p:nvPr>
            <p:ph idx="1"/>
          </p:nvPr>
        </p:nvSpPr>
        <p:spPr>
          <a:xfrm xmlns:a="http://schemas.openxmlformats.org/drawingml/2006/main">
            <a:off x="393700" y="1838848"/>
            <a:ext cx="5533190" cy="4155552"/>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Two test documents</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Derived governance records</a:t>
            </a:r>
          </a:p>
          <a:p xmlns:a="http://schemas.openxmlformats.org/drawingml/2006/main">
            <a:pPr marL="0" indent="0">
              <a:lnSpc>
                <a:spcPct val="114000"/>
              </a:lnSpc>
              <a:spcBef>
                <a:spcPts val="0"/>
              </a:spcBef>
              <a:spcAft>
                <a:spcPts val="800"/>
              </a:spcAft>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Synthetic conflict scenarios</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No OCR needed</a:t>
            </a:r>
          </a:p>
        </p:txBody>
      </p:sp>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2598689-54C9-18A7-3A19-ED76AA08988F}" type="slidenum">
              <a:t>2</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3450" b="1">
                <a:solidFill>
                  <a:srgbClr val="000000"/>
                </a:solidFill>
                <a:latin typeface="Helvetica Neue"/>
                <a:ea typeface="Helvetica Neue"/>
                <a:cs typeface="Helvetica Neue"/>
              </a:defRPr>
            </a:pPr>
            <a:r>
              <a:rPr sz="3450" b="1">
                <a:solidFill>
                  <a:srgbClr val="000000"/>
                </a:solidFill>
                <a:latin typeface="Helvetica Neue"/>
                <a:ea typeface="Helvetica Neue"/>
                <a:cs typeface="Helvetica Neue"/>
              </a:rPr>
              <a:t>My work with the new data</a:t>
            </a:r>
          </a:p>
        </p:txBody>
      </p:sp>
      <p:sp>
        <p:nvSpPr>
          <p:cNvPr id="2" name="Google Shape;534;p58">
            <a:extLst xmlns:a="http://schemas.openxmlformats.org/drawingml/2006/main">
              <a:ext uri="{FF2B5EF4-FFF2-40B4-BE49-F238E27FC236}">
                <a16:creationId xmlns:a16="http://schemas.microsoft.com/office/drawing/2014/main" id="{A4A94F3C-B1B2-7289-7098-7C66C8A291D6}"/>
              </a:ext>
            </a:extLst>
          </p:cNvPr>
          <p:cNvSpPr>
            <a:spLocks xmlns:a="http://schemas.openxmlformats.org/drawingml/2006/main" noGrp="1"/>
          </p:cNvSpPr>
          <p:nvPr/>
        </p:nvSpPr>
        <p:spPr>
          <a:xfrm xmlns:a="http://schemas.openxmlformats.org/drawingml/2006/main">
            <a:off x="6265111" y="2192694"/>
            <a:ext cx="5537200" cy="3801706"/>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Improvements</a:t>
            </a: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Better query matching</a:t>
            </a:r>
          </a:p>
          <a:p xmlns:a="http://schemas.openxmlformats.org/drawingml/2006/main">
            <a:pPr marL="0" indent="0">
              <a:lnSpc>
                <a:spcPct val="114000"/>
              </a:lnSpc>
              <a:spcBef>
                <a:spcPts val="0"/>
              </a:spcBef>
              <a:spcAft>
                <a:spcPts val="800"/>
              </a:spcAft>
              <a:buFont typeface="Arial"/>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Updated hybrid scoring</a:t>
            </a:r>
          </a:p>
          <a:p xmlns:a="http://schemas.openxmlformats.org/drawingml/2006/main">
            <a:pPr marL="0" indent="0">
              <a:lnSpc>
                <a:spcPct val="114000"/>
              </a:lnSpc>
              <a:spcBef>
                <a:spcPts val="0"/>
              </a:spcBef>
              <a:spcAft>
                <a:spcPts val="800"/>
              </a:spcAft>
              <a:buFont typeface="Arial"/>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Checks for conflicting conditions</a:t>
            </a:r>
          </a:p>
        </p:txBody>
      </p:sp>
    </p:spTree>
    <p:extLst>
      <p:ext uri="{BB962C8B-B14F-4D97-AF65-F5344CB8AC3E}">
        <p14:creationId xmlns:p14="http://schemas.microsoft.com/office/powerpoint/2010/main" val="54622172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C936F667-D10C-5292-AA3B-96BE2CAC84D9}"/>
              </a:ext>
            </a:extLst>
          </p:cNvPr>
          <p:cNvSpPr>
            <a:spLocks xmlns:a="http://schemas.openxmlformats.org/drawingml/2006/main" noGrp="1"/>
          </p:cNvSpPr>
          <p:nvPr>
            <p:ph idx="1"/>
          </p:nvPr>
        </p:nvSpPr>
        <p:spPr>
          <a:xfrm xmlns:a="http://schemas.openxmlformats.org/drawingml/2006/main">
            <a:off x="393700" y="1838848"/>
            <a:ext cx="5533190" cy="4155552"/>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Relevant evidence in top 5</a:t>
            </a:r>
          </a:p>
          <a:p xmlns:a="http://schemas.openxmlformats.org/drawingml/2006/main">
            <a:pPr marL="0" indent="0">
              <a:lnSpc>
                <a:spcPct val="114000"/>
              </a:lnSpc>
              <a:spcBef>
                <a:spcPts val="0"/>
              </a:spcBef>
              <a:spcAft>
                <a:spcPts val="800"/>
              </a:spcAft>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9/15 before, 13/15 after</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Correct conflict pair reported</a:t>
            </a:r>
          </a:p>
          <a:p xmlns:a="http://schemas.openxmlformats.org/drawingml/2006/main">
            <a:pPr marL="0" indent="0">
              <a:lnSpc>
                <a:spcPct val="114000"/>
              </a:lnSpc>
              <a:spcBef>
                <a:spcPts val="0"/>
              </a:spcBef>
              <a:spcAft>
                <a:spcPts val="800"/>
              </a:spcAft>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14/20 before, 16/20 after</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75 regression tests passed</a:t>
            </a:r>
          </a:p>
        </p:txBody>
      </p:sp>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202359C0-8A7A-196E-DD58-8E6569619F09}" type="slidenum">
              <a:t>3</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3450" b="1">
                <a:solidFill>
                  <a:srgbClr val="000000"/>
                </a:solidFill>
                <a:latin typeface="Helvetica Neue"/>
                <a:ea typeface="Helvetica Neue"/>
                <a:cs typeface="Helvetica Neue"/>
              </a:defRPr>
            </a:pPr>
            <a:r>
              <a:rPr sz="3450" b="1">
                <a:solidFill>
                  <a:srgbClr val="000000"/>
                </a:solidFill>
                <a:latin typeface="Helvetica Neue"/>
                <a:ea typeface="Helvetica Neue"/>
                <a:cs typeface="Helvetica Neue"/>
              </a:rPr>
              <a:t>Results and next steps</a:t>
            </a:r>
          </a:p>
        </p:txBody>
      </p:sp>
      <p:sp>
        <p:nvSpPr>
          <p:cNvPr id="2" name="Google Shape;534;p58">
            <a:extLst xmlns:a="http://schemas.openxmlformats.org/drawingml/2006/main">
              <a:ext uri="{FF2B5EF4-FFF2-40B4-BE49-F238E27FC236}">
                <a16:creationId xmlns:a16="http://schemas.microsoft.com/office/drawing/2014/main" id="{A4A94F3C-B1B2-7289-7098-7C66C8A291D6}"/>
              </a:ext>
            </a:extLst>
          </p:cNvPr>
          <p:cNvSpPr>
            <a:spLocks xmlns:a="http://schemas.openxmlformats.org/drawingml/2006/main" noGrp="1"/>
          </p:cNvSpPr>
          <p:nvPr/>
        </p:nvSpPr>
        <p:spPr>
          <a:xfrm xmlns:a="http://schemas.openxmlformats.org/drawingml/2006/main">
            <a:off x="6265111" y="2192694"/>
            <a:ext cx="5537200" cy="3801706"/>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Next steps</a:t>
            </a: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Review four missed cases</a:t>
            </a:r>
          </a:p>
          <a:p xmlns:a="http://schemas.openxmlformats.org/drawingml/2006/main">
            <a:pPr marL="0" indent="0">
              <a:lnSpc>
                <a:spcPct val="114000"/>
              </a:lnSpc>
              <a:spcBef>
                <a:spcPts val="0"/>
              </a:spcBef>
              <a:spcAft>
                <a:spcPts val="800"/>
              </a:spcAft>
              <a:buFont typeface="Arial"/>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Test with unseen questions</a:t>
            </a: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Development results on synthetic data</a:t>
            </a:r>
          </a:p>
        </p:txBody>
      </p:sp>
    </p:spTree>
    <p:extLst>
      <p:ext uri="{BB962C8B-B14F-4D97-AF65-F5344CB8AC3E}">
        <p14:creationId xmlns:p14="http://schemas.microsoft.com/office/powerpoint/2010/main" val="546221724"/>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2026-09-16T06:55:32.9930000Z</dcterms:created>
  <dcterms:modified xsi:type="dcterms:W3CDTF">2026-09-16T06:55:32.9930000Z</dcterms:modified>
</coreProperties>
</file>